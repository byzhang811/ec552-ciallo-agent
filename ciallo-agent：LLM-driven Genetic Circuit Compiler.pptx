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6" r:id="rId9"/>
    <p:sldId id="268" r:id="rId10"/>
    <p:sldId id="261" r:id="rId11"/>
    <p:sldId id="267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3" autoAdjust="0"/>
    <p:restoredTop sz="94726"/>
  </p:normalViewPr>
  <p:slideViewPr>
    <p:cSldViewPr snapToGrid="0">
      <p:cViewPr>
        <p:scale>
          <a:sx n="114" d="100"/>
          <a:sy n="114" d="100"/>
        </p:scale>
        <p:origin x="5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5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microsoft.com/office/2007/relationships/hdphoto" Target="../media/image4.wdp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DF0DBC5-39F0-48A2-A185-8B24F617A5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rightnessContrast bright="-40000" contrast="20000"/>
                        </a14:imgEffect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90D63B7-E11B-49D0-83D7-FB4118C06A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8000" dirty="0" err="1"/>
              <a:t>ciallo</a:t>
            </a:r>
            <a:r>
              <a:rPr lang="en-US" altLang="zh-CN" sz="8000" dirty="0"/>
              <a:t>-agent</a:t>
            </a:r>
            <a:r>
              <a:rPr lang="zh-CN" altLang="en-US" sz="8000" dirty="0"/>
              <a:t>：</a:t>
            </a:r>
            <a:r>
              <a:rPr lang="en-US" altLang="zh-CN" sz="8000" dirty="0"/>
              <a:t>LLM-driven Genetic Circuit Compiler</a:t>
            </a:r>
            <a:endParaRPr lang="zh-CN" altLang="en-US" sz="8000" dirty="0"/>
          </a:p>
        </p:txBody>
      </p:sp>
      <p:sp>
        <p:nvSpPr>
          <p:cNvPr id="4" name="副标题 2"/>
          <p:cNvSpPr>
            <a:spLocks noGrp="1"/>
          </p:cNvSpPr>
          <p:nvPr/>
        </p:nvSpPr>
        <p:spPr>
          <a:xfrm>
            <a:off x="864257" y="4611363"/>
            <a:ext cx="7891272" cy="10698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Yizhou Jiang, </a:t>
            </a:r>
            <a:r>
              <a:rPr lang="en-US" altLang="zh-CN" dirty="0" err="1"/>
              <a:t>Qinlin</a:t>
            </a:r>
            <a:r>
              <a:rPr lang="en-US" altLang="zh-CN" dirty="0"/>
              <a:t> Zhang, Boyang Zhang, </a:t>
            </a:r>
            <a:r>
              <a:rPr lang="en-US" altLang="zh-CN" dirty="0" err="1"/>
              <a:t>Arno</a:t>
            </a:r>
            <a:r>
              <a:rPr lang="en-US" altLang="zh-CN" dirty="0" err="1"/>
              <a:t>uv</a:t>
            </a:r>
            <a:r>
              <a:rPr lang="en-US" altLang="zh-CN" dirty="0"/>
              <a:t> Nayana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Email</a:t>
            </a:r>
            <a:r>
              <a:rPr lang="zh-CN" altLang="en-US" dirty="0"/>
              <a:t>：</a:t>
            </a:r>
            <a:r>
              <a:rPr lang="en-US" altLang="zh-CN" u="sng" dirty="0">
                <a:solidFill>
                  <a:srgbClr val="07C2FF"/>
                </a:solidFill>
              </a:rPr>
              <a:t>jyz0410@bu.edu</a:t>
            </a:r>
            <a:endParaRPr lang="en-US" altLang="zh-CN" u="sng" dirty="0">
              <a:solidFill>
                <a:srgbClr val="07C2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8156" y="17098"/>
            <a:ext cx="5070088" cy="100361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D1B2A"/>
                </a:solidFill>
              </a:rPr>
              <a:t>Goal &amp; motivation</a:t>
            </a:r>
            <a:endParaRPr lang="en-US" altLang="zh-CN" sz="4000" dirty="0"/>
          </a:p>
        </p:txBody>
      </p:sp>
      <p:sp>
        <p:nvSpPr>
          <p:cNvPr id="5" name="Shape 2"/>
          <p:cNvSpPr/>
          <p:nvPr/>
        </p:nvSpPr>
        <p:spPr>
          <a:xfrm>
            <a:off x="458315" y="1127017"/>
            <a:ext cx="5258544" cy="3400378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660789"/>
            <a:ext cx="5043315" cy="2926080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Designing gene circuits normally requires domain knowledge of sensors, gates, reporters, UCF files, and toolchain details.</a:t>
            </a:r>
            <a:endParaRPr lang="en-US" sz="180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That makes rapid prototyping hard for students, biologists, and non-experts who can describe the behavior they want but not the compiler inputs.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6172200" y="1097280"/>
            <a:ext cx="5486400" cy="3459852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8"/>
          <p:cNvSpPr/>
          <p:nvPr/>
        </p:nvSpPr>
        <p:spPr>
          <a:xfrm>
            <a:off x="6382511" y="1118095"/>
            <a:ext cx="4098675" cy="6430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Synthetic biology connection</a:t>
            </a:r>
            <a:endParaRPr lang="en-US" sz="2000" dirty="0"/>
          </a:p>
        </p:txBody>
      </p:sp>
      <p:sp>
        <p:nvSpPr>
          <p:cNvPr id="10" name="Text 9"/>
          <p:cNvSpPr/>
          <p:nvPr/>
        </p:nvSpPr>
        <p:spPr>
          <a:xfrm>
            <a:off x="6382512" y="1691639"/>
            <a:ext cx="5077968" cy="2487071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The output is not just text: it maps to genetic sensors, logic constraints, reporters, and UCF-compatible representations.</a:t>
            </a:r>
            <a:endParaRPr lang="en-US" sz="180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That means the project acts like a front-end compiler for synthetic biology, bridging human intent and biological implementation.</a:t>
            </a:r>
            <a:endParaRPr lang="en-US" sz="1800" dirty="0"/>
          </a:p>
        </p:txBody>
      </p:sp>
      <p:sp>
        <p:nvSpPr>
          <p:cNvPr id="11" name="Text 10"/>
          <p:cNvSpPr/>
          <p:nvPr/>
        </p:nvSpPr>
        <p:spPr>
          <a:xfrm>
            <a:off x="567930" y="4616978"/>
            <a:ext cx="3806284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</a:rPr>
              <a:t>Prompt → design bundle</a:t>
            </a:r>
            <a:endParaRPr lang="en-US" sz="2000" dirty="0"/>
          </a:p>
        </p:txBody>
      </p:sp>
      <p:sp>
        <p:nvSpPr>
          <p:cNvPr id="12" name="Shape 11"/>
          <p:cNvSpPr/>
          <p:nvPr/>
        </p:nvSpPr>
        <p:spPr>
          <a:xfrm>
            <a:off x="1494263" y="5090905"/>
            <a:ext cx="8467493" cy="1674168"/>
          </a:xfrm>
          <a:prstGeom prst="roundRect">
            <a:avLst>
              <a:gd name="adj" fmla="val 5217"/>
            </a:avLst>
          </a:prstGeom>
          <a:solidFill>
            <a:srgbClr val="F8FAFF"/>
          </a:solidFill>
          <a:ln w="1270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2"/>
          <p:cNvSpPr/>
          <p:nvPr/>
        </p:nvSpPr>
        <p:spPr>
          <a:xfrm>
            <a:off x="3253176" y="5532120"/>
            <a:ext cx="5229185" cy="8909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700" dirty="0">
                <a:solidFill>
                  <a:srgbClr val="0D1B2A"/>
                </a:solidFill>
              </a:rPr>
              <a:t>Design a biosensor that can be based on multiple sensors and outputs.</a:t>
            </a:r>
            <a:endParaRPr lang="en-US" sz="1700" dirty="0">
              <a:solidFill>
                <a:srgbClr val="0D1B2A"/>
              </a:solidFill>
            </a:endParaRPr>
          </a:p>
          <a:p>
            <a:pPr algn="ctr"/>
            <a:r>
              <a:rPr lang="en-US" sz="1700" dirty="0">
                <a:solidFill>
                  <a:srgbClr val="0D1B2A"/>
                </a:solidFill>
              </a:rPr>
              <a:t>↓ </a:t>
            </a:r>
            <a:endParaRPr lang="en-US" sz="1700" dirty="0">
              <a:solidFill>
                <a:srgbClr val="0D1B2A"/>
              </a:solidFill>
            </a:endParaRPr>
          </a:p>
          <a:p>
            <a:pPr algn="ctr"/>
            <a:r>
              <a:rPr lang="en-US" sz="1700" dirty="0">
                <a:solidFill>
                  <a:srgbClr val="0D1B2A"/>
                </a:solidFill>
              </a:rPr>
              <a:t>Design specifications + Verilog + Input/output JSON + Selected UCF + Cello runtime package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08156" y="17098"/>
            <a:ext cx="5070088" cy="100361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D1B2A"/>
                </a:solidFill>
              </a:rPr>
              <a:t>Short functionality</a:t>
            </a:r>
            <a:endParaRPr lang="en-US" altLang="zh-CN" sz="4000" dirty="0"/>
          </a:p>
        </p:txBody>
      </p:sp>
      <p:grpSp>
        <p:nvGrpSpPr>
          <p:cNvPr id="5" name="组合 4"/>
          <p:cNvGrpSpPr/>
          <p:nvPr/>
        </p:nvGrpSpPr>
        <p:grpSpPr>
          <a:xfrm>
            <a:off x="1115864" y="1020708"/>
            <a:ext cx="9648779" cy="1127760"/>
            <a:chOff x="640080" y="1600200"/>
            <a:chExt cx="9189720" cy="960120"/>
          </a:xfrm>
        </p:grpSpPr>
        <p:sp>
          <p:nvSpPr>
            <p:cNvPr id="6" name="Shape 2"/>
            <p:cNvSpPr/>
            <p:nvPr/>
          </p:nvSpPr>
          <p:spPr>
            <a:xfrm>
              <a:off x="640080" y="1600200"/>
              <a:ext cx="2057400" cy="960120"/>
            </a:xfrm>
            <a:prstGeom prst="roundRect">
              <a:avLst>
                <a:gd name="adj" fmla="val 7619"/>
              </a:avLst>
            </a:prstGeom>
            <a:solidFill>
              <a:srgbClr val="EFF6FF"/>
            </a:solidFill>
            <a:ln w="15240">
              <a:solidFill>
                <a:srgbClr val="CFE0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3"/>
            <p:cNvSpPr/>
            <p:nvPr/>
          </p:nvSpPr>
          <p:spPr>
            <a:xfrm>
              <a:off x="749808" y="1737360"/>
              <a:ext cx="1837944" cy="21945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D4ED8"/>
                  </a:solidFill>
                </a:rPr>
                <a:t>User request</a:t>
              </a:r>
              <a:endParaRPr lang="en-US" sz="17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749808" y="1984248"/>
              <a:ext cx="1837944" cy="4114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</a:rPr>
                <a:t>Natural-language goal, optional paper, optional custom parts</a:t>
              </a:r>
              <a:endParaRPr lang="en-US" sz="1150" dirty="0"/>
            </a:p>
          </p:txBody>
        </p:sp>
        <p:sp>
          <p:nvSpPr>
            <p:cNvPr id="9" name="Shape 5"/>
            <p:cNvSpPr/>
            <p:nvPr/>
          </p:nvSpPr>
          <p:spPr>
            <a:xfrm>
              <a:off x="2752344" y="1920240"/>
              <a:ext cx="164592" cy="256032"/>
            </a:xfrm>
            <a:prstGeom prst="chevron">
              <a:avLst/>
            </a:prstGeom>
            <a:solidFill>
              <a:srgbClr val="0EA5E9"/>
            </a:solidFill>
            <a:ln w="12700">
              <a:solidFill>
                <a:srgbClr val="0EA5E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Shape 6"/>
            <p:cNvSpPr/>
            <p:nvPr/>
          </p:nvSpPr>
          <p:spPr>
            <a:xfrm>
              <a:off x="3017520" y="1600200"/>
              <a:ext cx="2057400" cy="960120"/>
            </a:xfrm>
            <a:prstGeom prst="roundRect">
              <a:avLst>
                <a:gd name="adj" fmla="val 7619"/>
              </a:avLst>
            </a:prstGeom>
            <a:solidFill>
              <a:srgbClr val="F8FAFC"/>
            </a:solidFill>
            <a:ln w="15240">
              <a:solidFill>
                <a:srgbClr val="CFE0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7"/>
            <p:cNvSpPr/>
            <p:nvPr/>
          </p:nvSpPr>
          <p:spPr>
            <a:xfrm>
              <a:off x="3127248" y="1737360"/>
              <a:ext cx="1837944" cy="21945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D4ED8"/>
                  </a:solidFill>
                </a:rPr>
                <a:t>Planner</a:t>
              </a:r>
              <a:endParaRPr lang="en-US" sz="17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3127248" y="1984248"/>
              <a:ext cx="1837944" cy="4114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</a:rPr>
                <a:t>Extract sensors, outputs, chassis, logic, constraints</a:t>
              </a:r>
              <a:endParaRPr lang="en-US" sz="115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5129784" y="1920240"/>
              <a:ext cx="164592" cy="256032"/>
            </a:xfrm>
            <a:prstGeom prst="chevron">
              <a:avLst/>
            </a:prstGeom>
            <a:solidFill>
              <a:srgbClr val="0EA5E9"/>
            </a:solidFill>
            <a:ln w="12700">
              <a:solidFill>
                <a:srgbClr val="0EA5E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5394960" y="1600200"/>
              <a:ext cx="2057400" cy="960120"/>
            </a:xfrm>
            <a:prstGeom prst="roundRect">
              <a:avLst>
                <a:gd name="adj" fmla="val 7619"/>
              </a:avLst>
            </a:prstGeom>
            <a:solidFill>
              <a:srgbClr val="EFF6FF"/>
            </a:solidFill>
            <a:ln w="15240">
              <a:solidFill>
                <a:srgbClr val="CFE0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1"/>
            <p:cNvSpPr/>
            <p:nvPr/>
          </p:nvSpPr>
          <p:spPr>
            <a:xfrm>
              <a:off x="5504688" y="1737360"/>
              <a:ext cx="1837944" cy="21945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D4ED8"/>
                  </a:solidFill>
                </a:rPr>
                <a:t>Bundle builder</a:t>
              </a:r>
              <a:endParaRPr lang="en-US" sz="1700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5504688" y="1984248"/>
              <a:ext cx="1837944" cy="4114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</a:rPr>
                <a:t>Generate DesignSpec, Verilog, JSON files, selected UCF</a:t>
              </a:r>
              <a:endParaRPr lang="en-US" sz="115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7507224" y="1920240"/>
              <a:ext cx="164592" cy="256032"/>
            </a:xfrm>
            <a:prstGeom prst="chevron">
              <a:avLst/>
            </a:prstGeom>
            <a:solidFill>
              <a:srgbClr val="0EA5E9"/>
            </a:solidFill>
            <a:ln w="12700">
              <a:solidFill>
                <a:srgbClr val="0EA5E9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Shape 14"/>
            <p:cNvSpPr/>
            <p:nvPr/>
          </p:nvSpPr>
          <p:spPr>
            <a:xfrm>
              <a:off x="7772400" y="1600200"/>
              <a:ext cx="2057400" cy="960120"/>
            </a:xfrm>
            <a:prstGeom prst="roundRect">
              <a:avLst>
                <a:gd name="adj" fmla="val 7619"/>
              </a:avLst>
            </a:prstGeom>
            <a:solidFill>
              <a:srgbClr val="F8FAFC"/>
            </a:solidFill>
            <a:ln w="15240">
              <a:solidFill>
                <a:srgbClr val="CFE0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5"/>
            <p:cNvSpPr/>
            <p:nvPr/>
          </p:nvSpPr>
          <p:spPr>
            <a:xfrm>
              <a:off x="7882128" y="1737360"/>
              <a:ext cx="1837944" cy="21945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D4ED8"/>
                  </a:solidFill>
                </a:rPr>
                <a:t>Validation &amp; run</a:t>
              </a:r>
              <a:endParaRPr lang="en-US" sz="1700" dirty="0"/>
            </a:p>
          </p:txBody>
        </p:sp>
        <p:sp>
          <p:nvSpPr>
            <p:cNvPr id="20" name="Text 16"/>
            <p:cNvSpPr/>
            <p:nvPr/>
          </p:nvSpPr>
          <p:spPr>
            <a:xfrm>
              <a:off x="7882128" y="1984248"/>
              <a:ext cx="1837944" cy="41148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</a:rPr>
                <a:t>Schema checks, Cello execution, Tellurium simulation</a:t>
              </a:r>
              <a:endParaRPr lang="en-US" sz="1150" dirty="0"/>
            </a:p>
          </p:txBody>
        </p:sp>
      </p:grpSp>
      <p:sp>
        <p:nvSpPr>
          <p:cNvPr id="21" name="Shape 17"/>
          <p:cNvSpPr/>
          <p:nvPr/>
        </p:nvSpPr>
        <p:spPr>
          <a:xfrm>
            <a:off x="685800" y="288036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6355080" y="28803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914400" y="3154680"/>
            <a:ext cx="2552956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What the user sees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914400" y="3474720"/>
            <a:ext cx="4846320" cy="1645920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One request box and one button to generate a design bundle.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Automatic selection of the most suitable official library record.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Output files exposed in the browser for inspection and export.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583680" y="3154680"/>
            <a:ext cx="3585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What the system produces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583680" y="3474720"/>
            <a:ext cx="4480560" cy="1828800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DesignSpec for the front-end request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Verilog and filtered input/output JSON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Base UCF or generated UCF fragment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Manifest + summary + optional Cello output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08156" y="17098"/>
            <a:ext cx="5070088" cy="100361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D1B2A"/>
                </a:solidFill>
              </a:rPr>
              <a:t>Short specification</a:t>
            </a:r>
            <a:endParaRPr lang="en-US" altLang="zh-CN" sz="4000" dirty="0"/>
          </a:p>
        </p:txBody>
      </p:sp>
      <p:sp>
        <p:nvSpPr>
          <p:cNvPr id="6" name="Text 4"/>
          <p:cNvSpPr/>
          <p:nvPr/>
        </p:nvSpPr>
        <p:spPr>
          <a:xfrm>
            <a:off x="816640" y="1267596"/>
            <a:ext cx="2342871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4ED8"/>
                </a:solidFill>
              </a:rPr>
              <a:t>Requirements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16641" y="1615068"/>
            <a:ext cx="9197154" cy="2103120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Generate schema-valid synthetic-biology bundle files.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Use an official or selected base library when possible.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Surface the chosen sensors, reporter, and logic to the user.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</a:rPr>
              <a:t>Support a “paper-assisted” path and a “custom components” path in the same studio.</a:t>
            </a:r>
            <a:endParaRPr lang="en-US" sz="18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816640" y="3512263"/>
            <a:ext cx="10676549" cy="1936224"/>
            <a:chOff x="705128" y="4724028"/>
            <a:chExt cx="10676549" cy="1936224"/>
          </a:xfrm>
        </p:grpSpPr>
        <p:sp>
          <p:nvSpPr>
            <p:cNvPr id="8" name="Text 6"/>
            <p:cNvSpPr/>
            <p:nvPr/>
          </p:nvSpPr>
          <p:spPr>
            <a:xfrm>
              <a:off x="816640" y="4724028"/>
              <a:ext cx="2149583" cy="16459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100" b="1" dirty="0">
                  <a:solidFill>
                    <a:srgbClr val="16A34A"/>
                  </a:solidFill>
                </a:rPr>
                <a:t>Constraints</a:t>
              </a:r>
              <a:endParaRPr lang="en-US" sz="2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05128" y="5014332"/>
              <a:ext cx="10676549" cy="164592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t"/>
            <a:lstStyle/>
            <a:p>
              <a:pPr marL="177800" indent="-177800">
                <a:buSzPct val="100000"/>
                <a:buChar char="•"/>
              </a:pPr>
              <a:r>
                <a:rPr lang="en-US" sz="1750" dirty="0">
                  <a:solidFill>
                    <a:srgbClr val="0D1B2A"/>
                  </a:solidFill>
                </a:rPr>
                <a:t>Official libraries are incomplete and directory layouts vary.</a:t>
              </a:r>
              <a:endParaRPr lang="en-US" sz="1750" dirty="0"/>
            </a:p>
            <a:p>
              <a:pPr marL="177800" indent="-177800">
                <a:buSzPct val="100000"/>
                <a:buChar char="•"/>
              </a:pPr>
              <a:r>
                <a:rPr lang="en-US" sz="1750" dirty="0">
                  <a:solidFill>
                    <a:srgbClr val="0D1B2A"/>
                  </a:solidFill>
                </a:rPr>
                <a:t>Many biological parameters are missing or only partially specified.</a:t>
              </a:r>
              <a:endParaRPr lang="en-US" sz="1750" dirty="0"/>
            </a:p>
            <a:p>
              <a:pPr marL="177800" indent="-177800">
                <a:buSzPct val="100000"/>
                <a:buChar char="•"/>
              </a:pPr>
              <a:r>
                <a:rPr lang="en-US" sz="1750" dirty="0">
                  <a:solidFill>
                    <a:srgbClr val="0D1B2A"/>
                  </a:solidFill>
                </a:rPr>
                <a:t>Windows encoding, JSON formatting, and environment setup can break the flow.</a:t>
              </a:r>
              <a:endParaRPr lang="en-US" sz="17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08156" y="17098"/>
            <a:ext cx="5070088" cy="100361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D1B2A"/>
                </a:solidFill>
              </a:rPr>
              <a:t>Short specification</a:t>
            </a:r>
            <a:endParaRPr lang="en-US" altLang="zh-CN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6" y="1213996"/>
            <a:ext cx="5182279" cy="317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678" y="1214780"/>
            <a:ext cx="5184000" cy="317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4"/>
          <p:cNvSpPr/>
          <p:nvPr/>
        </p:nvSpPr>
        <p:spPr>
          <a:xfrm>
            <a:off x="1101741" y="4711390"/>
            <a:ext cx="9402708" cy="1786054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Request parsing: extract chassis, sensor names, reporter, and logic hints from plain English.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Library selection: match the request against indexed official records such as Eco1C1G1T1.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Bundle generation: emit DesignSpec, Verilog, selected input/output JSON, and summary files.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Optional extension path: derive UCF fragments from a paper or custom component draft.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Validation: check JSON schema compatibility before handing off to Cello.</a:t>
            </a:r>
            <a:endParaRPr lang="en-US" sz="1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208155" y="17098"/>
            <a:ext cx="6757639" cy="1003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rgbClr val="0D1B2A"/>
                </a:solidFill>
              </a:rPr>
              <a:t>Detailed Functionality</a:t>
            </a:r>
            <a:endParaRPr lang="en-US" altLang="zh-CN" sz="4000" b="1" dirty="0">
              <a:solidFill>
                <a:srgbClr val="0D1B2A"/>
              </a:solidFill>
            </a:endParaRPr>
          </a:p>
        </p:txBody>
      </p:sp>
      <p:pic>
        <p:nvPicPr>
          <p:cNvPr id="8" name="图片 7" descr="c4847a73-6081-4046-bf5a-3f69ed2f9d5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790" y="838835"/>
            <a:ext cx="6440170" cy="35159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260" y="1020445"/>
            <a:ext cx="4104640" cy="2882265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indent="0">
              <a:buSzPct val="100000"/>
              <a:buNone/>
            </a:pPr>
            <a:r>
              <a:rPr lang="en-US" sz="2100" b="1" dirty="0">
                <a:solidFill>
                  <a:srgbClr val="1D4ED8"/>
                </a:solidFill>
              </a:rPr>
              <a:t>Step 1 — Natural Language → Structured Design</a:t>
            </a:r>
            <a:endParaRPr lang="en-US" sz="2100" b="1" dirty="0">
              <a:solidFill>
                <a:srgbClr val="1D4ED8"/>
              </a:solidFill>
            </a:endParaRPr>
          </a:p>
          <a:p>
            <a:pPr indent="0">
              <a:buSzPct val="100000"/>
              <a:buNone/>
            </a:pPr>
            <a:endParaRPr lang="en-US" sz="2100" b="1" dirty="0">
              <a:solidFill>
                <a:srgbClr val="1D4ED8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altLang="zh-CN" sz="1800" dirty="0"/>
              <a:t>User provides a high-level biological request</a:t>
            </a:r>
            <a:endParaRPr lang="en-US" altLang="zh-CN" sz="1800" dirty="0"/>
          </a:p>
          <a:p>
            <a:pPr marL="177800" indent="-177800">
              <a:buSzPct val="100000"/>
              <a:buChar char="•"/>
            </a:pPr>
            <a:r>
              <a:rPr lang="en-US" altLang="zh-CN" sz="1800" dirty="0"/>
              <a:t>System selects compatible sensors from the official library</a:t>
            </a:r>
            <a:endParaRPr lang="en-US" altLang="zh-CN" sz="1800" dirty="0"/>
          </a:p>
          <a:p>
            <a:pPr marL="177800" indent="-177800">
              <a:buSzPct val="100000"/>
              <a:buChar char="•"/>
            </a:pPr>
            <a:r>
              <a:rPr lang="en-US" altLang="zh-CN" sz="1800" dirty="0"/>
              <a:t>Planner translates intent into a formal design specification</a:t>
            </a:r>
            <a:endParaRPr lang="en-US" altLang="zh-CN" sz="1800" dirty="0"/>
          </a:p>
        </p:txBody>
      </p:sp>
      <p:pic>
        <p:nvPicPr>
          <p:cNvPr id="10" name="图片 9" descr="d33c00fb-1767-4b2c-b3f9-f1168922232c"/>
          <p:cNvPicPr>
            <a:picLocks noChangeAspect="1"/>
          </p:cNvPicPr>
          <p:nvPr/>
        </p:nvPicPr>
        <p:blipFill>
          <a:blip r:embed="rId3"/>
          <a:srcRect r="86729" b="75832"/>
          <a:stretch>
            <a:fillRect/>
          </a:stretch>
        </p:blipFill>
        <p:spPr>
          <a:xfrm>
            <a:off x="7776845" y="4544695"/>
            <a:ext cx="2118995" cy="21069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5130" y="4354830"/>
            <a:ext cx="7139940" cy="2106930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indent="0">
              <a:buSzPct val="100000"/>
              <a:buNone/>
            </a:pPr>
            <a:r>
              <a:rPr lang="en-US" altLang="zh-CN" sz="2100" b="1" dirty="0">
                <a:solidFill>
                  <a:srgbClr val="1D4ED8"/>
                </a:solidFill>
              </a:rPr>
              <a:t>Step 2 — Logic Abstraction via Verilog</a:t>
            </a:r>
            <a:endParaRPr lang="en-US" altLang="zh-CN" sz="2100" b="1" dirty="0">
              <a:solidFill>
                <a:srgbClr val="1D4ED8"/>
              </a:solidFill>
            </a:endParaRPr>
          </a:p>
          <a:p>
            <a:pPr indent="0">
              <a:buSzPct val="100000"/>
              <a:buNone/>
            </a:pPr>
            <a:endParaRPr lang="en-US" altLang="zh-CN" sz="2100" b="1" dirty="0">
              <a:solidFill>
                <a:srgbClr val="1D4ED8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altLang="zh-CN" sz="1800" dirty="0"/>
              <a:t>Generated Verilog encodes circuit logic:</a:t>
            </a:r>
            <a:endParaRPr lang="en-US" altLang="zh-CN" sz="1800" dirty="0"/>
          </a:p>
          <a:p>
            <a:pPr marL="177800" indent="-177800">
              <a:buSzPct val="100000"/>
              <a:buChar char="•"/>
            </a:pPr>
            <a:r>
              <a:rPr lang="en-US" altLang="zh-CN" sz="1800" dirty="0"/>
              <a:t>Abstracts biological behavior into digital logic</a:t>
            </a:r>
            <a:endParaRPr lang="en-US" altLang="zh-CN" sz="1800" dirty="0"/>
          </a:p>
          <a:p>
            <a:pPr marL="177800" indent="-177800">
              <a:buSzPct val="100000"/>
              <a:buChar char="•"/>
            </a:pPr>
            <a:r>
              <a:rPr lang="en-US" altLang="zh-CN" sz="1800" dirty="0"/>
              <a:t>Enables compatibility with synthesis tools (Cello / Yosys)</a:t>
            </a:r>
            <a:endParaRPr lang="en-US" altLang="zh-CN" sz="1800" dirty="0"/>
          </a:p>
          <a:p>
            <a:pPr marL="177800" indent="-177800">
              <a:buSzPct val="100000"/>
              <a:buChar char="•"/>
            </a:pPr>
            <a:endParaRPr lang="en-US" altLang="zh-CN" sz="1800" b="1" dirty="0">
              <a:solidFill>
                <a:srgbClr val="FF0000"/>
              </a:solidFill>
            </a:endParaRPr>
          </a:p>
          <a:p>
            <a:pPr indent="0">
              <a:buSzPct val="100000"/>
              <a:buNone/>
            </a:pPr>
            <a:r>
              <a:rPr lang="en-US" altLang="zh-CN" sz="1800" b="1" dirty="0">
                <a:solidFill>
                  <a:srgbClr val="FF0000"/>
                </a:solidFill>
              </a:rPr>
              <a:t>Transforms biological logic into a computable intermediate representation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208155" y="17098"/>
            <a:ext cx="6757639" cy="1003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rgbClr val="0D1B2A"/>
                </a:solidFill>
              </a:rPr>
              <a:t>Detailed Functionality</a:t>
            </a:r>
            <a:endParaRPr lang="en-US" altLang="zh-CN" sz="4000" b="1" dirty="0">
              <a:solidFill>
                <a:srgbClr val="0D1B2A"/>
              </a:solidFill>
            </a:endParaRPr>
          </a:p>
        </p:txBody>
      </p:sp>
      <p:pic>
        <p:nvPicPr>
          <p:cNvPr id="4" name="图片 3" descr="07270389-84cc-4508-b8d9-9e6ad230b0d3"/>
          <p:cNvPicPr>
            <a:picLocks noChangeAspect="1"/>
          </p:cNvPicPr>
          <p:nvPr/>
        </p:nvPicPr>
        <p:blipFill>
          <a:blip r:embed="rId2"/>
          <a:srcRect r="17401" b="10660"/>
          <a:stretch>
            <a:fillRect/>
          </a:stretch>
        </p:blipFill>
        <p:spPr>
          <a:xfrm>
            <a:off x="4139565" y="1020445"/>
            <a:ext cx="7994015" cy="47205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0685" y="1290320"/>
            <a:ext cx="3304540" cy="165519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This JSON represents the transition from logical design to biological implementation.</a:t>
            </a:r>
            <a:endParaRPr lang="en-US" altLang="zh-CN"/>
          </a:p>
          <a:p>
            <a:r>
              <a:rPr lang="en-US" altLang="zh-CN"/>
              <a:t>It defines the output device, maps inputs to biological components, and specifies functional behavior.</a:t>
            </a:r>
            <a:endParaRPr lang="en-US" altLang="zh-CN"/>
          </a:p>
          <a:p>
            <a:r>
              <a:rPr lang="en-US" altLang="zh-CN"/>
              <a:t>Unlike Verilog, which captures abstract logic, this layer encodes how the circuit can be physically realized.</a:t>
            </a:r>
            <a:endParaRPr lang="en-US" altLang="zh-CN"/>
          </a:p>
          <a:p>
            <a:r>
              <a:rPr lang="en-US" altLang="zh-CN"/>
              <a:t>This is the key step that makes the design compatible with Cello.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4120" y="853440"/>
            <a:ext cx="4857750" cy="579628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208155" y="17098"/>
            <a:ext cx="6757639" cy="1003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rgbClr val="0D1B2A"/>
                </a:solidFill>
              </a:rPr>
              <a:t>Detailed Functionality</a:t>
            </a:r>
            <a:endParaRPr lang="en-US" altLang="zh-CN" sz="4000" b="1" dirty="0">
              <a:solidFill>
                <a:srgbClr val="0D1B2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08156" y="17098"/>
            <a:ext cx="5070088" cy="1003610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solidFill>
                  <a:srgbClr val="0D1B2A"/>
                </a:solidFill>
              </a:rPr>
              <a:t>Detailed architecture</a:t>
            </a:r>
            <a:endParaRPr lang="en-US" altLang="zh-CN" sz="4000" dirty="0"/>
          </a:p>
        </p:txBody>
      </p:sp>
      <p:sp>
        <p:nvSpPr>
          <p:cNvPr id="7" name="Shape 2"/>
          <p:cNvSpPr/>
          <p:nvPr/>
        </p:nvSpPr>
        <p:spPr>
          <a:xfrm>
            <a:off x="680596" y="1710225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3"/>
          <p:cNvSpPr/>
          <p:nvPr/>
        </p:nvSpPr>
        <p:spPr>
          <a:xfrm>
            <a:off x="753748" y="1938825"/>
            <a:ext cx="159105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ED8"/>
                </a:solidFill>
              </a:rPr>
              <a:t>Web app / CLI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72036" y="2304585"/>
            <a:ext cx="1554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User input, mode selection, file upload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2920876" y="1710225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2994028" y="1938825"/>
            <a:ext cx="159105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ED8"/>
                </a:solidFill>
              </a:rPr>
              <a:t>Design pipeline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012316" y="2304585"/>
            <a:ext cx="1554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Prompt parsing, library matching, request normalization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161156" y="1710225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5234308" y="1938825"/>
            <a:ext cx="159105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ED8"/>
                </a:solidFill>
              </a:rPr>
              <a:t>UCF drafts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252596" y="2304585"/>
            <a:ext cx="1554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Base-UCF merge, custom parts, JSON generation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401436" y="1710225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2"/>
          <p:cNvSpPr/>
          <p:nvPr/>
        </p:nvSpPr>
        <p:spPr>
          <a:xfrm>
            <a:off x="7474588" y="1938825"/>
            <a:ext cx="159105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ED8"/>
                </a:solidFill>
              </a:rPr>
              <a:t>Cello interface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492876" y="2304585"/>
            <a:ext cx="1554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Bundle files, validation, Docker invocation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641716" y="1710225"/>
            <a:ext cx="1737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9714868" y="1938825"/>
            <a:ext cx="159105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ED8"/>
                </a:solidFill>
              </a:rPr>
              <a:t>Tellurium / outputs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733156" y="2304585"/>
            <a:ext cx="1554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Simulation, summary, manifest, artifacts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3436" y="4025031"/>
            <a:ext cx="5257800" cy="2045507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640973" y="4312472"/>
            <a:ext cx="5029200" cy="2225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A34A"/>
                </a:solidFill>
              </a:rPr>
              <a:t>Files that make the architecture tangible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716801" y="4891277"/>
            <a:ext cx="475190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B2A"/>
                </a:solidFill>
              </a:rPr>
              <a:t>DesignSpec.json • Verilog • input.json • output.json • base/generated UCF.json • summary.md • manifest.json • cello_output/*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6121275" y="4087664"/>
            <a:ext cx="5429751" cy="1982873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6349876" y="4191891"/>
            <a:ext cx="2615704" cy="34308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A34A"/>
                </a:solidFill>
              </a:rPr>
              <a:t>Design tradeoff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6349876" y="4891277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D1B2A"/>
                </a:solidFill>
              </a:rPr>
              <a:t>We preferred explicit intermediate artifacts over a black-box pipeline so we could inspect every step, debug failures, and show the work in class.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08280" y="17145"/>
            <a:ext cx="7983855" cy="1003300"/>
          </a:xfrm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0D1B2A"/>
                </a:solidFill>
              </a:rPr>
              <a:t>One Clear Technical Example</a:t>
            </a:r>
            <a:endParaRPr lang="en-US" altLang="zh-CN" sz="4000" dirty="0"/>
          </a:p>
        </p:txBody>
      </p:sp>
      <p:sp>
        <p:nvSpPr>
          <p:cNvPr id="4" name="文本框 3"/>
          <p:cNvSpPr txBox="1"/>
          <p:nvPr/>
        </p:nvSpPr>
        <p:spPr>
          <a:xfrm>
            <a:off x="2334895" y="1057910"/>
            <a:ext cx="84296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SzPct val="100000"/>
              <a:buNone/>
            </a:pPr>
            <a:r>
              <a:rPr lang="en-US" altLang="zh-CN" sz="2800" b="1" dirty="0">
                <a:solidFill>
                  <a:srgbClr val="1D4ED8"/>
                </a:solidFill>
                <a:sym typeface="+mn-ea"/>
              </a:rPr>
              <a:t>Bridging LLM Output with Cello Constraints</a:t>
            </a:r>
            <a:endParaRPr lang="en-US" altLang="zh-CN" sz="2800" b="1" dirty="0">
              <a:solidFill>
                <a:srgbClr val="1D4ED8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2255" y="1904365"/>
            <a:ext cx="959167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Problem</a:t>
            </a:r>
            <a:endParaRPr lang="en-US" altLang="zh-CN" b="1"/>
          </a:p>
          <a:p>
            <a:r>
              <a:rPr lang="en-US" altLang="zh-CN"/>
              <a:t>LLM-generated designs are often syntactically valid but not compatible with Cello’s strict input requirements.</a:t>
            </a:r>
            <a:endParaRPr lang="en-US" altLang="zh-CN"/>
          </a:p>
          <a:p>
            <a:endParaRPr lang="en-US" altLang="zh-CN"/>
          </a:p>
          <a:p>
            <a:r>
              <a:rPr lang="en-US" altLang="zh-CN" b="1"/>
              <a:t>Our Solution</a:t>
            </a:r>
            <a:endParaRPr lang="en-US" altLang="zh-CN" b="1"/>
          </a:p>
          <a:p>
            <a:r>
              <a:rPr lang="en-US" altLang="zh-CN"/>
              <a:t>We designed a pipeline that: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Translates natural language into structured design artifacts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Constrains outputs using an official biological library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Generates Cello-compatible inputs (Verilog + JSON)</a:t>
            </a:r>
            <a:endParaRPr lang="en-US" altLang="zh-CN"/>
          </a:p>
          <a:p>
            <a:endParaRPr lang="en-US" altLang="zh-CN" b="1"/>
          </a:p>
          <a:p>
            <a:r>
              <a:rPr lang="en-US" altLang="zh-CN" b="1"/>
              <a:t>Result</a:t>
            </a:r>
            <a:endParaRPr lang="en-US" altLang="zh-CN" b="1"/>
          </a:p>
          <a:p>
            <a:r>
              <a:rPr lang="en-US" altLang="zh-CN"/>
              <a:t>Successfully triggers Cello execution and reaches logic synthesis 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208155" y="17098"/>
            <a:ext cx="6757639" cy="1003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rgbClr val="0D1B2A"/>
                </a:solidFill>
              </a:rPr>
              <a:t>Successes</a:t>
            </a:r>
            <a:endParaRPr lang="en-US" altLang="zh-CN" sz="4000" dirty="0"/>
          </a:p>
        </p:txBody>
      </p:sp>
      <p:sp>
        <p:nvSpPr>
          <p:cNvPr id="5" name="Shape 2"/>
          <p:cNvSpPr/>
          <p:nvPr/>
        </p:nvSpPr>
        <p:spPr>
          <a:xfrm>
            <a:off x="594359" y="1188720"/>
            <a:ext cx="10921134" cy="2439143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79" y="1444752"/>
            <a:ext cx="44212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4ED8"/>
                </a:solidFill>
              </a:rPr>
              <a:t>Technical successes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79" y="1783080"/>
            <a:ext cx="10334580" cy="2834640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0D1B2A"/>
                </a:solidFill>
              </a:rPr>
              <a:t>We achieved an end-to-end workflow from natural language to structured synthetic-biology artifacts.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0D1B2A"/>
                </a:solidFill>
              </a:rPr>
              <a:t>We indexed an official library, selected a matching baseline, and generated inspectable files.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0D1B2A"/>
                </a:solidFill>
              </a:rPr>
              <a:t>We integrated a browser studio, validation logic, and a Tellurium-based simulation view.</a:t>
            </a: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sz="1750" dirty="0">
                <a:solidFill>
                  <a:srgbClr val="0D1B2A"/>
                </a:solidFill>
              </a:rPr>
              <a:t>We debugged real engineering problems: encoding issues, malformed JSON, library layout mismatches, and Windows environment problems.</a:t>
            </a:r>
            <a:endParaRPr lang="en-US" sz="1750" dirty="0"/>
          </a:p>
        </p:txBody>
      </p:sp>
      <p:sp>
        <p:nvSpPr>
          <p:cNvPr id="8" name="Shape 2"/>
          <p:cNvSpPr/>
          <p:nvPr/>
        </p:nvSpPr>
        <p:spPr>
          <a:xfrm>
            <a:off x="635433" y="3730752"/>
            <a:ext cx="10828021" cy="2937677"/>
          </a:xfrm>
          <a:prstGeom prst="roundRect">
            <a:avLst>
              <a:gd name="adj" fmla="val 1356"/>
            </a:avLst>
          </a:prstGeom>
          <a:noFill/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868679" y="4130783"/>
            <a:ext cx="442121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100" b="1" dirty="0">
                <a:solidFill>
                  <a:srgbClr val="1D4ED8"/>
                </a:solidFill>
              </a:rPr>
              <a:t>Team contributions</a:t>
            </a:r>
            <a:endParaRPr lang="en-US" sz="2100" dirty="0"/>
          </a:p>
        </p:txBody>
      </p:sp>
      <p:sp>
        <p:nvSpPr>
          <p:cNvPr id="10" name="Text 9"/>
          <p:cNvSpPr/>
          <p:nvPr/>
        </p:nvSpPr>
        <p:spPr>
          <a:xfrm>
            <a:off x="988741" y="4463536"/>
            <a:ext cx="9723864" cy="2286000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altLang="zh-CN" sz="1750" dirty="0">
                <a:solidFill>
                  <a:srgbClr val="0D1B2A"/>
                </a:solidFill>
              </a:rPr>
              <a:t>Yizhou Jiang</a:t>
            </a:r>
            <a:r>
              <a:rPr lang="en-US" sz="1750" dirty="0">
                <a:solidFill>
                  <a:srgbClr val="0D1B2A"/>
                </a:solidFill>
              </a:rPr>
              <a:t>: </a:t>
            </a:r>
            <a:r>
              <a:rPr lang="en-US" sz="1750" dirty="0">
                <a:solidFill>
                  <a:srgbClr val="0D1B2A"/>
                </a:solidFill>
                <a:sym typeface="+mn-ea"/>
              </a:rPr>
              <a:t>UCF generation</a:t>
            </a:r>
            <a:r>
              <a:rPr lang="en-US" sz="1750" dirty="0">
                <a:solidFill>
                  <a:srgbClr val="0D1B2A"/>
                </a:solidFill>
              </a:rPr>
              <a:t>;</a:t>
            </a:r>
            <a:r>
              <a:rPr lang="zh-CN" altLang="en-US" sz="1750" dirty="0">
                <a:solidFill>
                  <a:srgbClr val="0D1B2A"/>
                </a:solidFill>
              </a:rPr>
              <a:t> </a:t>
            </a:r>
            <a:r>
              <a:rPr lang="en-US" sz="1750" dirty="0">
                <a:solidFill>
                  <a:srgbClr val="0D1B2A"/>
                </a:solidFill>
                <a:sym typeface="+mn-ea"/>
              </a:rPr>
              <a:t>library handling; and JSON validation</a:t>
            </a:r>
            <a:endParaRPr lang="en-US" sz="175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endParaRPr lang="en-US" sz="175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en-US" altLang="zh-CN" sz="1750" dirty="0">
                <a:solidFill>
                  <a:srgbClr val="0D1B2A"/>
                </a:solidFill>
              </a:rPr>
              <a:t>Boyang Zhang</a:t>
            </a:r>
            <a:r>
              <a:rPr lang="en-US" sz="1750" dirty="0">
                <a:solidFill>
                  <a:srgbClr val="0D1B2A"/>
                </a:solidFill>
              </a:rPr>
              <a:t>: </a:t>
            </a:r>
            <a:r>
              <a:rPr lang="en-US" sz="1750" dirty="0">
                <a:solidFill>
                  <a:srgbClr val="0D1B2A"/>
                </a:solidFill>
                <a:sym typeface="+mn-ea"/>
              </a:rPr>
              <a:t>Web Frontend Agent Optimization</a:t>
            </a:r>
            <a:r>
              <a:rPr lang="en-US" sz="1750" dirty="0">
                <a:solidFill>
                  <a:srgbClr val="0D1B2A"/>
                </a:solidFill>
              </a:rPr>
              <a:t>; </a:t>
            </a:r>
            <a:r>
              <a:rPr lang="en-US" sz="1750" dirty="0">
                <a:solidFill>
                  <a:srgbClr val="0D1B2A"/>
                </a:solidFill>
                <a:sym typeface="+mn-ea"/>
              </a:rPr>
              <a:t>Request Parsing; Web Frontend Agent Optimization</a:t>
            </a:r>
            <a:endParaRPr lang="en-US" sz="175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altLang="zh-CN" sz="1750" dirty="0" err="1">
                <a:solidFill>
                  <a:srgbClr val="0D1B2A"/>
                </a:solidFill>
              </a:rPr>
              <a:t>Arnouv</a:t>
            </a:r>
            <a:r>
              <a:rPr lang="en-US" altLang="zh-CN" sz="1750" dirty="0">
                <a:solidFill>
                  <a:srgbClr val="0D1B2A"/>
                </a:solidFill>
              </a:rPr>
              <a:t> Nayana </a:t>
            </a:r>
            <a:r>
              <a:rPr lang="en-US" sz="1750" dirty="0">
                <a:solidFill>
                  <a:srgbClr val="0D1B2A"/>
                </a:solidFill>
              </a:rPr>
              <a:t>: </a:t>
            </a:r>
            <a:r>
              <a:rPr lang="en-US" altLang="zh-CN" sz="1750" dirty="0">
                <a:solidFill>
                  <a:srgbClr val="0D1B2A"/>
                </a:solidFill>
              </a:rPr>
              <a:t>Cello integration; circuit synthesis pipeline debugging</a:t>
            </a:r>
            <a:endParaRPr lang="en-US" altLang="zh-CN" sz="175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endParaRPr lang="en-US" sz="1750" dirty="0"/>
          </a:p>
          <a:p>
            <a:pPr marL="177800" indent="-177800">
              <a:buSzPct val="100000"/>
              <a:buChar char="•"/>
            </a:pPr>
            <a:r>
              <a:rPr lang="en-US" altLang="zh-CN" sz="1750" dirty="0" err="1">
                <a:solidFill>
                  <a:srgbClr val="0D1B2A"/>
                </a:solidFill>
              </a:rPr>
              <a:t>Qinlin</a:t>
            </a:r>
            <a:r>
              <a:rPr lang="en-US" altLang="zh-CN" sz="1750" dirty="0">
                <a:solidFill>
                  <a:srgbClr val="0D1B2A"/>
                </a:solidFill>
              </a:rPr>
              <a:t> Zhang</a:t>
            </a:r>
            <a:r>
              <a:rPr lang="en-US" sz="1750" dirty="0">
                <a:solidFill>
                  <a:srgbClr val="0D1B2A"/>
                </a:solidFill>
              </a:rPr>
              <a:t>: Cello/Tellurium testing, debugging, and evaluation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211872" y="69137"/>
            <a:ext cx="11768255" cy="1003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rgbClr val="0D1B2A"/>
                </a:solidFill>
              </a:rPr>
              <a:t>Failures, tradeoffs, and what we would do differently</a:t>
            </a:r>
            <a:endParaRPr lang="en-US" altLang="zh-CN" sz="4000" dirty="0"/>
          </a:p>
        </p:txBody>
      </p:sp>
      <p:sp>
        <p:nvSpPr>
          <p:cNvPr id="5" name="Shape 2"/>
          <p:cNvSpPr/>
          <p:nvPr/>
        </p:nvSpPr>
        <p:spPr>
          <a:xfrm>
            <a:off x="594360" y="1234440"/>
            <a:ext cx="5440680" cy="2884077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57168" y="1421854"/>
            <a:ext cx="4015554" cy="2210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C2626"/>
                </a:solidFill>
              </a:rPr>
              <a:t>What failed or was fragile</a:t>
            </a:r>
            <a:endParaRPr lang="en-US" sz="2100" dirty="0"/>
          </a:p>
        </p:txBody>
      </p:sp>
      <p:sp>
        <p:nvSpPr>
          <p:cNvPr id="7" name="文本框 6"/>
          <p:cNvSpPr txBox="1"/>
          <p:nvPr/>
        </p:nvSpPr>
        <p:spPr>
          <a:xfrm>
            <a:off x="757168" y="1804639"/>
            <a:ext cx="48842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Due to limited domain expertise in synthetic biology, many LLM-generated designs were not sufficiently well-structured to meet Cello input requirements. In contrast, designs derived from literature sources were consistently valid and could be successfully processed and simulated.</a:t>
            </a:r>
            <a:endParaRPr lang="zh-CN" altLang="en-US" dirty="0"/>
          </a:p>
        </p:txBody>
      </p:sp>
      <p:sp>
        <p:nvSpPr>
          <p:cNvPr id="8" name="Shape 3"/>
          <p:cNvSpPr/>
          <p:nvPr/>
        </p:nvSpPr>
        <p:spPr>
          <a:xfrm>
            <a:off x="6217920" y="1234440"/>
            <a:ext cx="5349240" cy="5257800"/>
          </a:xfrm>
          <a:prstGeom prst="roundRect">
            <a:avLst>
              <a:gd name="adj" fmla="val 1391"/>
            </a:avLst>
          </a:prstGeom>
          <a:noFill/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8"/>
          <p:cNvSpPr/>
          <p:nvPr/>
        </p:nvSpPr>
        <p:spPr>
          <a:xfrm>
            <a:off x="6446519" y="1421854"/>
            <a:ext cx="3574709" cy="25826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A34A"/>
                </a:solidFill>
              </a:rPr>
              <a:t>What we would do next</a:t>
            </a:r>
            <a:endParaRPr lang="en-US" sz="2100" dirty="0"/>
          </a:p>
        </p:txBody>
      </p:sp>
      <p:sp>
        <p:nvSpPr>
          <p:cNvPr id="10" name="Text 9"/>
          <p:cNvSpPr/>
          <p:nvPr/>
        </p:nvSpPr>
        <p:spPr>
          <a:xfrm>
            <a:off x="6446520" y="1783079"/>
            <a:ext cx="5151120" cy="4350091"/>
          </a:xfrm>
          <a:prstGeom prst="rect">
            <a:avLst/>
          </a:prstGeom>
          <a:noFill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Build a cleaner curated biological library instead of relying only on messy upstream sample inputs.</a:t>
            </a:r>
            <a:endParaRPr lang="en-US" sz="172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Strengthen prompt normalization so the user can omit more details safely.</a:t>
            </a:r>
            <a:endParaRPr lang="en-US" sz="172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Add better error handling in the web app so unsupported cases return guidance instead of 500-style failures.</a:t>
            </a:r>
            <a:endParaRPr lang="en-US" sz="1720" dirty="0">
              <a:solidFill>
                <a:srgbClr val="0D1B2A"/>
              </a:solidFill>
            </a:endParaRPr>
          </a:p>
          <a:p>
            <a:pPr marL="177800" indent="-177800">
              <a:buSzPct val="100000"/>
              <a:buChar char="•"/>
            </a:pP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0D1B2A"/>
                </a:solidFill>
              </a:rPr>
              <a:t>Expand the simulation layer to compare expected logic and measured dynamics across multiple designs.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54503" y="2967335"/>
            <a:ext cx="2282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DEMO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材纹理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0</TotalTime>
  <Words>6002</Words>
  <Application>WPS 演示</Application>
  <PresentationFormat>宽屏</PresentationFormat>
  <Paragraphs>189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Rockwell</vt:lpstr>
      <vt:lpstr>Rockwell Condensed</vt:lpstr>
      <vt:lpstr>方正姚体</vt:lpstr>
      <vt:lpstr>微软雅黑</vt:lpstr>
      <vt:lpstr>Arial Unicode MS</vt:lpstr>
      <vt:lpstr>Calibri</vt:lpstr>
      <vt:lpstr>木材纹理</vt:lpstr>
      <vt:lpstr>ciallo-agent：LLM-driven Genetic Circuit Compiler</vt:lpstr>
      <vt:lpstr>Goal &amp; motivation</vt:lpstr>
      <vt:lpstr>Short functionality</vt:lpstr>
      <vt:lpstr>Short specification</vt:lpstr>
      <vt:lpstr>Short specification</vt:lpstr>
      <vt:lpstr>PowerPoint 演示文稿</vt:lpstr>
      <vt:lpstr>PowerPoint 演示文稿</vt:lpstr>
      <vt:lpstr>PowerPoint 演示文稿</vt:lpstr>
      <vt:lpstr>Detailed architecture</vt:lpstr>
      <vt:lpstr>One Clear Technical Example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蒋 亦舟</dc:creator>
  <cp:lastModifiedBy>WPS_1631782152</cp:lastModifiedBy>
  <cp:revision>8</cp:revision>
  <dcterms:created xsi:type="dcterms:W3CDTF">2026-04-22T01:29:00Z</dcterms:created>
  <dcterms:modified xsi:type="dcterms:W3CDTF">2026-04-22T21:29:54Z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A1EDAC2C51A84705980FD7B66FDCB37C_12</vt:lpwstr>
  </property>
</Properties>
</file>